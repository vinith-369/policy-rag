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A3352"/>
          </a:solidFill>
          <a:ln w="12700">
            <a:solidFill>
              <a:srgbClr val="0A33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2743200"/>
            <a:ext cx="2560320" cy="256032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182880"/>
            <a:ext cx="1645920" cy="164592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37160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400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411480" y="1417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Policy Documents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11480" y="2148840"/>
            <a:ext cx="38404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22860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Retrieval Pipeline with LLM-as-a-Judge Evaluation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11480" y="4069080"/>
            <a:ext cx="1600200" cy="347472"/>
          </a:xfrm>
          <a:prstGeom prst="roundRect">
            <a:avLst>
              <a:gd name="adj" fmla="val 26316"/>
            </a:avLst>
          </a:prstGeom>
          <a:solidFill>
            <a:srgbClr val="415A7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4069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331720" y="4069080"/>
            <a:ext cx="1600200" cy="347472"/>
          </a:xfrm>
          <a:prstGeom prst="roundRect">
            <a:avLst>
              <a:gd name="adj" fmla="val 26316"/>
            </a:avLst>
          </a:prstGeom>
          <a:solidFill>
            <a:srgbClr val="415A7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31720" y="4069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069080" y="4069080"/>
            <a:ext cx="1600200" cy="347472"/>
          </a:xfrm>
          <a:prstGeom prst="roundRect">
            <a:avLst>
              <a:gd name="adj" fmla="val 26316"/>
            </a:avLst>
          </a:prstGeom>
          <a:solidFill>
            <a:srgbClr val="415A7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69080" y="4069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LLM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23560" y="4069080"/>
            <a:ext cx="1600200" cy="347472"/>
          </a:xfrm>
          <a:prstGeom prst="roundRect">
            <a:avLst>
              <a:gd name="adj" fmla="val 26316"/>
            </a:avLst>
          </a:prstGeom>
          <a:solidFill>
            <a:srgbClr val="415A7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23560" y="4069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Suite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73152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326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need fast, accurate answers from dense policy documents. Manual search is slow and error-prone.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86868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868680"/>
            <a:ext cx="73152" cy="1691640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9326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The Solution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298448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RAG system using hybrid dense+sparse retrieval, LangGraph orchestration, and automated hallucination checking.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788920"/>
            <a:ext cx="1920240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2880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0040" y="3474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BM25 Search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50008" y="2788920"/>
            <a:ext cx="1920240" cy="1280160"/>
          </a:xfrm>
          <a:prstGeom prst="rect">
            <a:avLst/>
          </a:prstGeom>
          <a:solidFill>
            <a:srgbClr val="415A77"/>
          </a:solidFill>
          <a:ln w="12700">
            <a:solidFill>
              <a:srgbClr val="415A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350008" y="2880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Retry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350008" y="3474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Guard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79976" y="2788920"/>
            <a:ext cx="1920240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79976" y="2880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379976" y="3474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Fusion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9944" y="2788920"/>
            <a:ext cx="1920240" cy="1280160"/>
          </a:xfrm>
          <a:prstGeom prst="rect">
            <a:avLst/>
          </a:prstGeom>
          <a:solidFill>
            <a:srgbClr val="415A77"/>
          </a:solidFill>
          <a:ln w="12700">
            <a:solidFill>
              <a:srgbClr val="415A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9944" y="2880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09944" y="3474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Evaluation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3434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LangGraph · LangChain · Qdrant · sentence-transformers · Ollama · rank-bm25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LangGraph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783080" cy="3063240"/>
          </a:xfrm>
          <a:prstGeom prst="rect">
            <a:avLst/>
          </a:prstGeom>
          <a:solidFill>
            <a:srgbClr val="0A2A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17830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17043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6916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194767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254203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103120" y="2331720"/>
            <a:ext cx="5486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68880" y="22128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331720" y="960120"/>
            <a:ext cx="1783080" cy="3063240"/>
          </a:xfrm>
          <a:prstGeom prst="rect">
            <a:avLst/>
          </a:prstGeom>
          <a:solidFill>
            <a:srgbClr val="0A2A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331720" y="960120"/>
            <a:ext cx="17830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170432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377440" y="16916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2377440" y="194767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DOCS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377440" y="254203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filter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114800" y="2331720"/>
            <a:ext cx="5486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480560" y="22128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343400" y="960120"/>
            <a:ext cx="1783080" cy="3063240"/>
          </a:xfrm>
          <a:prstGeom prst="rect">
            <a:avLst/>
          </a:prstGeom>
          <a:solidFill>
            <a:srgbClr val="0A2A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343400" y="960120"/>
            <a:ext cx="17830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170432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389120" y="16916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389120" y="194767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389120" y="254203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Context-grounded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126480" y="2331720"/>
            <a:ext cx="5486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492240" y="22128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</a:rPr>
              <a:t>▶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355080" y="960120"/>
            <a:ext cx="1783080" cy="3063240"/>
          </a:xfrm>
          <a:prstGeom prst="rect">
            <a:avLst/>
          </a:prstGeom>
          <a:solidFill>
            <a:srgbClr val="0A2A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355080" y="960120"/>
            <a:ext cx="17830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170432"/>
            <a:ext cx="502920" cy="5029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400800" y="16916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6400800" y="194767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6400800" y="254203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 vs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chunks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2331720" y="4251960"/>
            <a:ext cx="5806440" cy="36576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2331720" y="434340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Retry loop (max 2 attempts) when hallucination detected — regenerates answer</a:t>
            </a:r>
            <a:endParaRPr lang="en-US" sz="105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1720" y="4297680"/>
            <a:ext cx="256032" cy="256032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8275320" y="2103120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8275320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&amp; Hybrid Search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393192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8686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Retrieval (Semantic)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3898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all-MiniLM-L6-v2 (384-dim)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17830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DB: Qdrant (in-memory)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21762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Distance: Cosine similarity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25694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top-20 semantic candidates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29626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meaning, not just keywords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892040" y="86868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92040" y="868680"/>
            <a:ext cx="3931920" cy="384048"/>
          </a:xfrm>
          <a:prstGeom prst="rect">
            <a:avLst/>
          </a:prstGeom>
          <a:solidFill>
            <a:srgbClr val="415A77"/>
          </a:solidFill>
          <a:ln w="12700">
            <a:solidFill>
              <a:srgbClr val="415A7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1440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49240" y="8686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Retrieval (BM25)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074920" y="13898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Library: rank-bm25 (BM25Okapi)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074920" y="17830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— no ONNX required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074920" y="21762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corpus maintained in-memory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074920" y="25694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every doc on keyword overlap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074920" y="29626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semantic with exact matches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20040" y="4343400"/>
            <a:ext cx="8503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320040" y="43434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RRF Fusion  —  score = 1/(60 + dense_rank) + 1/(60 + bm25_rank)  →  Top-K results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Nodes — Deep Dive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97480" cy="2103120"/>
          </a:xfrm>
          <a:prstGeom prst="rect">
            <a:avLst/>
          </a:prstGeom>
          <a:solidFill>
            <a:srgbClr val="0A2A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26974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914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retrieve()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3533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hybrid_search() with top_k=5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17647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raw_chunks list in RAGState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822960"/>
            <a:ext cx="2697480" cy="2103120"/>
          </a:xfrm>
          <a:prstGeom prst="rect">
            <a:avLst/>
          </a:prstGeom>
          <a:solidFill>
            <a:srgbClr val="0A2A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822960"/>
            <a:ext cx="26974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932688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914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grade_documents()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83280" y="13533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batched LLM call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383280" y="17647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comma-sep indices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383280" y="21762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'none' = empty graded list (no fallback)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144768" y="822960"/>
            <a:ext cx="2697480" cy="2103120"/>
          </a:xfrm>
          <a:prstGeom prst="rect">
            <a:avLst/>
          </a:prstGeom>
          <a:solidFill>
            <a:srgbClr val="0A2A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44768" y="822960"/>
            <a:ext cx="26974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932688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47688" y="914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generate()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281928" y="13533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chunks → immediate 'no info' reply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281928" y="17647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Context-grounded prompt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281928" y="21762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via llm.stream()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320040" y="3063240"/>
            <a:ext cx="2697480" cy="1828800"/>
          </a:xfrm>
          <a:prstGeom prst="rect">
            <a:avLst/>
          </a:prstGeom>
          <a:solidFill>
            <a:srgbClr val="0A2A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20040" y="3063240"/>
            <a:ext cx="26974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72968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22960" y="3154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check_hallucination()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57200" y="35935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yes/no verdict in one LLM call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57200" y="40050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 retries then accepts answer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457200" y="4416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Retries≥2 → routes to END (no loop)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3246120" y="3063240"/>
            <a:ext cx="2697480" cy="1828800"/>
          </a:xfrm>
          <a:prstGeom prst="rect">
            <a:avLst/>
          </a:prstGeom>
          <a:solidFill>
            <a:srgbClr val="0A2A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246120" y="3063240"/>
            <a:ext cx="26974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172968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749040" y="3154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route_after_check()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3383280" y="35935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 function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3383280" y="40050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retries≥2 → END (prevents infinite loop)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3383280" y="4416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answer → regenerate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6144768" y="3063240"/>
            <a:ext cx="2697480" cy="1828800"/>
          </a:xfrm>
          <a:prstGeom prst="rect">
            <a:avLst/>
          </a:prstGeom>
          <a:solidFill>
            <a:srgbClr val="0A2A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6144768" y="3063240"/>
            <a:ext cx="26974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172968"/>
            <a:ext cx="320040" cy="32004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647688" y="3154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stream_rag()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6281928" y="35935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streaming API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6281928" y="40050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Yields token / retry / done events</a:t>
            </a:r>
            <a:endParaRPr lang="en-US" sz="1050" dirty="0"/>
          </a:p>
        </p:txBody>
      </p:sp>
      <p:sp>
        <p:nvSpPr>
          <p:cNvPr id="44" name="Text 36"/>
          <p:cNvSpPr/>
          <p:nvPr/>
        </p:nvSpPr>
        <p:spPr>
          <a:xfrm>
            <a:off x="6281928" y="4416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renders tokens in real time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Guard — How It 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103120" cy="10972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417320"/>
            <a:ext cx="914400" cy="45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54680" y="1298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7520" y="914400"/>
            <a:ext cx="2103120" cy="1097280"/>
          </a:xfrm>
          <a:prstGeom prst="ellipse">
            <a:avLst/>
          </a:prstGeom>
          <a:solidFill>
            <a:srgbClr val="415A77"/>
          </a:solidFill>
          <a:ln w="12700">
            <a:solidFill>
              <a:srgbClr val="415A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17520" y="9144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20640" y="1417320"/>
            <a:ext cx="914400" cy="45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1298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0" y="914400"/>
            <a:ext cx="2103120" cy="10972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77840" y="9144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(yes/no)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7784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18120" y="914400"/>
            <a:ext cx="1005840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818120" y="91440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80960" y="1417320"/>
            <a:ext cx="137160" cy="45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— retry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2697480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309067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LLM Call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3502152"/>
            <a:ext cx="214884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5661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compact yes/no verdict prompt — efficient, not one call per chunk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3017520"/>
            <a:ext cx="2697480" cy="1554480"/>
          </a:xfrm>
          <a:prstGeom prst="rect">
            <a:avLst/>
          </a:prstGeom>
          <a:solidFill>
            <a:srgbClr val="415A77"/>
          </a:solidFill>
          <a:ln w="12700">
            <a:solidFill>
              <a:srgbClr val="415A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91840" y="309067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 Retries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566160" y="3502152"/>
            <a:ext cx="214884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5661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infinite retry loops — hard cap regardless of outcome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3017520"/>
            <a:ext cx="2697480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17920" y="309067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= No Check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92240" y="3502152"/>
            <a:ext cx="214884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35661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hallucination check when graded_chunks is empty — correct logic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 Evaluation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4124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8412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evaluate.py Works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444752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444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1444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Synthetic Test Cases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17190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generate_test_cases.py uses Ollama to produce Q&amp;A pairs from your actual docs (50 by default).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5760" y="2286000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60120" y="2286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RAG Pipeline per Question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0120" y="25603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goes through the full agentic pipeline — retrieve, grade, generate.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5760" y="3127248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3127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60120" y="3127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Grades the Answer (1–5)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60120" y="34015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Ollama judge compares the RAG answer to the expected concept and scores precision.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65760" y="3968496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3968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60120" y="39684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&amp; Save Report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60120" y="424281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 + per-question results written to evaluation_results.json.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120640" y="822960"/>
            <a:ext cx="3703320" cy="4069080"/>
          </a:xfrm>
          <a:prstGeom prst="rect">
            <a:avLst/>
          </a:prstGeom>
          <a:solidFill>
            <a:srgbClr val="0A2A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120640" y="822960"/>
            <a:ext cx="370332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66360" y="8229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Rubric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257800" y="1371600"/>
            <a:ext cx="3429000" cy="548640"/>
          </a:xfrm>
          <a:prstGeom prst="rect">
            <a:avLst/>
          </a:prstGeom>
          <a:solidFill>
            <a:srgbClr val="2E7D32">
              <a:alpha val="30000"/>
            </a:srgbClr>
          </a:solidFill>
          <a:ln w="12700">
            <a:solidFill>
              <a:srgbClr val="2E7D32">
                <a:alpha val="6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303520" y="1371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★★★★★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675120" y="1371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match — full concept captured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257800" y="2029968"/>
            <a:ext cx="3429000" cy="548640"/>
          </a:xfrm>
          <a:prstGeom prst="rect">
            <a:avLst/>
          </a:prstGeom>
          <a:solidFill>
            <a:srgbClr val="558B2F">
              <a:alpha val="30000"/>
            </a:srgbClr>
          </a:solidFill>
          <a:ln w="12700">
            <a:solidFill>
              <a:srgbClr val="558B2F">
                <a:alpha val="6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03520" y="20299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★★★★☆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675120" y="20299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correct, minor details missing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5257800" y="2688336"/>
            <a:ext cx="3429000" cy="548640"/>
          </a:xfrm>
          <a:prstGeom prst="rect">
            <a:avLst/>
          </a:prstGeom>
          <a:solidFill>
            <a:srgbClr val="FFC300">
              <a:alpha val="30000"/>
            </a:srgbClr>
          </a:solidFill>
          <a:ln w="12700">
            <a:solidFill>
              <a:srgbClr val="FFC300">
                <a:alpha val="6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0" y="268833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★★★☆☆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675120" y="268833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correct, key parts missing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257800" y="3346704"/>
            <a:ext cx="3429000" cy="548640"/>
          </a:xfrm>
          <a:prstGeom prst="rect">
            <a:avLst/>
          </a:prstGeom>
          <a:solidFill>
            <a:srgbClr val="E65100">
              <a:alpha val="30000"/>
            </a:srgbClr>
          </a:solidFill>
          <a:ln w="12700">
            <a:solidFill>
              <a:srgbClr val="E65100">
                <a:alpha val="6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303520" y="334670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★★☆☆☆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675120" y="334670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incorrect or overly vague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257800" y="4005072"/>
            <a:ext cx="3429000" cy="548640"/>
          </a:xfrm>
          <a:prstGeom prst="rect">
            <a:avLst/>
          </a:prstGeom>
          <a:solidFill>
            <a:srgbClr val="C62828">
              <a:alpha val="30000"/>
            </a:srgbClr>
          </a:solidFill>
          <a:ln w="12700">
            <a:solidFill>
              <a:srgbClr val="C62828">
                <a:alpha val="60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303520" y="400507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★☆☆☆☆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675120" y="40050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Wrong, hallucinated, contradicts source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269748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87782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0664" y="8229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2984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— agentic state machine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7099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— message primitives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1214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TypedDict — typed graph state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8229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822960"/>
            <a:ext cx="26974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87782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66744" y="8229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Inference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83280" y="12984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(local, privacy-first)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383280" y="17099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ChatOllama (LangChain wrapper)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383280" y="21214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qwen2.5:7b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44768" y="8229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44768" y="822960"/>
            <a:ext cx="2697480" cy="384048"/>
          </a:xfrm>
          <a:prstGeom prst="rect">
            <a:avLst/>
          </a:prstGeom>
          <a:solidFill>
            <a:srgbClr val="415A77"/>
          </a:solidFill>
          <a:ln w="12700">
            <a:solidFill>
              <a:srgbClr val="415A7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877824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65392" y="8229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281928" y="12984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in-memory client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281928" y="17099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(384-dim)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281928" y="21214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rank-bm25 + RRF fusion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320040" y="28803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20040" y="2880360"/>
            <a:ext cx="269748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2935224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0664" y="28803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57200" y="33558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— PDF text extraction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57200" y="37673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RecursiveCharacterTextSplitter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41788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chunk_size=500, overlap=100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3246120" y="28803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246120" y="2880360"/>
            <a:ext cx="26974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2935224"/>
            <a:ext cx="256032" cy="25603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666744" y="28803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3383280" y="33558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 (1–5 scoring)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3383280" y="37673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generate_test_cases.py (synthetic)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3383280" y="41788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report output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6144768" y="28803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144768" y="2880360"/>
            <a:ext cx="2697480" cy="384048"/>
          </a:xfrm>
          <a:prstGeom prst="rect">
            <a:avLst/>
          </a:prstGeom>
          <a:solidFill>
            <a:srgbClr val="415A77"/>
          </a:solidFill>
          <a:ln w="12700">
            <a:solidFill>
              <a:srgbClr val="415A77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2935224"/>
            <a:ext cx="256032" cy="256032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565392" y="28803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Interface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6281928" y="33558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query REPL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6281928" y="37673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streaming to terminal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6281928" y="41788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+ chunk count display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 &amp; Bug Fixes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1783080"/>
          </a:xfrm>
          <a:prstGeom prst="rect">
            <a:avLst/>
          </a:prstGeom>
          <a:solidFill>
            <a:srgbClr val="0A2A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73152" cy="1783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932688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54680" y="93268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 #2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932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Grader Verdict is Final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353312"/>
            <a:ext cx="3794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LLM grades docs as 'none', no fallback to all chunks. Prevents polluted context from leaking into generation.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4114800" cy="1783080"/>
          </a:xfrm>
          <a:prstGeom prst="rect">
            <a:avLst/>
          </a:prstGeom>
          <a:solidFill>
            <a:srgbClr val="0A2A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22960"/>
            <a:ext cx="73152" cy="1783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0" y="932688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93268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 #1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932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Loop Prevention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353312"/>
            <a:ext cx="3794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route_after_check() checks retries≥2 FIRST before checking empty answer — eliminates post-max-retry infinite loop edge case.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4114800" cy="1783080"/>
          </a:xfrm>
          <a:prstGeom prst="rect">
            <a:avLst/>
          </a:prstGeom>
          <a:solidFill>
            <a:srgbClr val="0A2A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26080"/>
            <a:ext cx="73152" cy="1783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54680" y="3035808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303580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0358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Grading (1 LLM Call)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3456432"/>
            <a:ext cx="3794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retrieved chunks graded in a single numbered-list prompt. Dramatically reduces latency vs one call per chunk.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4114800" cy="1783080"/>
          </a:xfrm>
          <a:prstGeom prst="rect">
            <a:avLst/>
          </a:prstGeom>
          <a:solidFill>
            <a:srgbClr val="0A2A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926080"/>
            <a:ext cx="73152" cy="1783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3035808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303580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Design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0" y="30358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Architecture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3456432"/>
            <a:ext cx="3794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stream_rag() runs retrieve+grade synchronously, then streams generation tokens. Users see responses immediately.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System Delivers</a:t>
            </a:r>
            <a:endParaRPr lang="en-US" sz="3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830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764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dense + sparse retrieval for higher recall &amp; precision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04872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38658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LangGraph pipeline with self-correcting hallucination guard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26664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300837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token output for low-perceived-latency responses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48456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8680" y="36301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LLM-as-a-Judge evaluation with synthetic test generation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11480" y="4251960"/>
            <a:ext cx="8366760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411480" y="4251960"/>
            <a:ext cx="8366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 · Privacy-first · No external API required — powered by Ollama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RAG for Policy Docs</dc:title>
  <dc:subject>PptxGenJS Presentation</dc:subject>
  <dc:creator>PptxGenJS</dc:creator>
  <cp:lastModifiedBy>PptxGenJS</cp:lastModifiedBy>
  <cp:revision>1</cp:revision>
  <dcterms:created xsi:type="dcterms:W3CDTF">2026-04-17T09:38:11Z</dcterms:created>
  <dcterms:modified xsi:type="dcterms:W3CDTF">2026-04-17T09:38:11Z</dcterms:modified>
</cp:coreProperties>
</file>